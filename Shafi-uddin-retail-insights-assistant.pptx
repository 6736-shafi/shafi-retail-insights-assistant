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63" r:id="rId8"/>
    <p:sldId id="257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6"/>
  </p:normalViewPr>
  <p:slideViewPr>
    <p:cSldViewPr snapToGrid="0">
      <p:cViewPr>
        <p:scale>
          <a:sx n="127" d="100"/>
          <a:sy n="127" d="100"/>
        </p:scale>
        <p:origin x="104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1F670-C08A-11F9-F433-3EFE8E303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4F6D7-DB52-5AAB-5F41-C6437E0D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1169D-A97C-0A7E-C0E3-5A94C84F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9E703-015E-B33A-D7CB-06EBD164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D487E-F57B-EA66-F6C6-64F72C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3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5546-E5DD-78B7-9D45-8F8FA43C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9A333-CEEB-1DB6-58B8-E020559B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195B-D9A4-3E6B-4214-C882F9C9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0F68-B643-04BC-8C4D-075BAF0D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F807E-EC4D-EE39-52A6-359A9FDB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7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6146-D322-F7E6-59F6-FF820EDC2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B860-9181-32E7-A7CB-8D826BB9C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0477D-4FB1-DEAC-C811-B5BFE677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303D-232C-DF44-5795-6126DCA3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64BD-E5E6-6E0F-1A31-677D8ECC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6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74FF-B2B6-63CE-43B6-EB15B297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B907-0F50-008C-09A9-5403E4CFD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C05D-91E0-5935-8E7D-B329B97F6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BE64-335E-D10F-52B1-BE0D6EC3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43695-36B8-1280-D96D-B38179D4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8F9E5-82B0-C6EA-EF86-21CA9D91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4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B22D-74A1-25E2-9FD2-CB3F6296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577F7-1E55-0826-B98F-642D0E88E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8F4E-8E91-CDA2-78F0-43A49E628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67750-7977-5C27-7D29-9E10965C7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819DE-37C3-EB69-CB2E-2170925E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C3CC7-D6B7-C0FC-59CD-C58AC7E0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7C47D-2541-445D-1DF6-E0934923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72A82-49A3-65EA-5847-4A7C54F9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B943-477C-E5A5-6FFE-4D91536F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10645-FCF8-A287-029C-B42F07C4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1D8D6-BAA8-7A4C-E98A-FBAD1223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2EB24-44A3-CE9F-D166-B8E8B7A8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07927-3203-2CFB-C1A1-1E7B95F4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A5D4D-B3DF-5C0B-C7E6-64770226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4F99E-6485-0D33-968D-5B8A70B0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B7B9-721A-2A7C-B608-C6ED2824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3B3B-30CD-04D3-62E0-8B7F7A2FB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EBC57-6D3C-61CD-B003-262A9DA86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B1F6-9EB1-22F7-EEC4-49CE7E78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D58FD-CB99-E86F-4CAF-A91AAC18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EA0CD-4C78-5AC7-9589-7794EFEC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9AE8-9E9B-B39E-3071-E86902DC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BB31C-9900-B95C-40D3-3ACAFA5D4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B4A1F-83A5-6E35-BBA5-5773DC548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ABEEE-1D6A-D919-7D43-ACD7943D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F0207-0436-07E6-569B-8EA7716A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920AE-7DB5-DD69-89DF-652BFD32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2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CAC4-F777-E066-C5CB-4FB57D8C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6A9F7-E5AA-41E6-AB27-10EFFDDA6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6D1DF-734C-C3B3-6367-74C3590F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FB64E-C6A7-B4A9-7E66-649D98A2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B0DD-6DFF-09C2-100B-6271E1DD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1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FC80D-CE49-6DC5-3DC1-A76EA3087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3C874-18FB-53B5-112B-16BD7E748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09A6-361A-67C9-B611-EDA8F6F1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698D1-0055-A40B-EA6D-D422E595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E3E3-23B6-ABC6-FE6F-984B8C6E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5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BE307D-2B01-DF1B-94BB-C1513B6C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A63A-37D8-56DF-C0E0-066235B15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66C0-1FDA-B875-BA6D-15B827310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AFC35-CAED-014D-AFF6-0C8C80CDE4B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E2C8B-EEEC-2DB5-E74F-E4A34DA93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0F455-DD67-81C8-6E60-BE1C2D6EE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D0004-A423-2A40-8A3B-A47D2C1B8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b74eefdfd26e44e7&amp;rlz=1C5GCEM_enIN1097IN1097&amp;sxsrf=AE3TifP24dKfanzQcRsOp3DITMkGPIOHWA:1764215900693&amp;q=Proposed+architecture&amp;spell=1&amp;sa=X&amp;ved=2ahUKEwiApMWwuJGRAxVFcmwGHRmLGFUQkeECKAB6BAgQEA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b74eefdfd26e44e7&amp;rlz=1C5GCEM_enIN1097IN1097&amp;sxsrf=AE3TifP24dKfanzQcRsOp3DITMkGPIOHWA:1764215900693&amp;q=Proposed+architecture&amp;spell=1&amp;sa=X&amp;ved=2ahUKEwiApMWwuJGRAxVFcmwGHRmLGFUQkeECKAB6BAgQEA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C04A-99CB-037E-F094-4DAA7C2D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307"/>
            <a:ext cx="10515600" cy="2797792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GenAI-Powered Retail Insights Assistant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58E54-632C-3CF5-57EC-31C903ED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4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Scalable Lakehouse Architecture on Azure Databricks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55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677E50-8CD6-7832-30E1-C0A96CE9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0" y="249942"/>
            <a:ext cx="12068580" cy="6485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D49B67-83A9-248D-68DC-3029BEF9FC81}"/>
              </a:ext>
            </a:extLst>
          </p:cNvPr>
          <p:cNvSpPr txBox="1"/>
          <p:nvPr/>
        </p:nvSpPr>
        <p:spPr>
          <a:xfrm>
            <a:off x="4393580" y="-78059"/>
            <a:ext cx="393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hlinkClick r:id="rId3"/>
              </a:rPr>
              <a:t>Proposed</a:t>
            </a:r>
            <a:r>
              <a:rPr lang="en-IN" dirty="0">
                <a:hlinkClick r:id="rId3"/>
              </a:rPr>
              <a:t> </a:t>
            </a:r>
            <a:r>
              <a:rPr lang="en-IN" b="1" i="1" dirty="0">
                <a:hlinkClick r:id="rId3"/>
              </a:rPr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5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73F9-94DA-77E8-5184-6F619128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Architecture &amp; Data Flow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4A13-E341-B9A2-644A-3F84866F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sources: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Batch sales files from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Azure Data Lake Storage Gen2 (ADLS Gen2)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Real-time sales events from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Azure Event Hubs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Ingestion pipelines: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Auto Loader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Delta Live Tables (DLT)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ingest new files and streaming events incrementally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schema inference/evolution and exactly-once processing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ETL &amp; processing: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PySpark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/ DLT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jobs clean, validate, and enrich data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Business logic applied for metrics, KPIs, and dimensions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Lakehouse storage (Delta Lake medallion):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Bronze: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raw ingested data with full history</a:t>
            </a: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Silver: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cleansed, conformed transactional data</a:t>
            </a: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Gold: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curated aggregates and business-ready fact tables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Downstream consumption: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Gold tables + embeddings feed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LLM orchestration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dashboards, and analytics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87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A994-1925-3BDB-5C48-C78CBDBE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32" y="1"/>
            <a:ext cx="10830067" cy="85980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LLM Integration Strategy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93BBE2-C80F-67EF-DD0B-DF5D81C6E8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9432" y="639245"/>
            <a:ext cx="11258835" cy="611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LLM Orchestration Layer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Built with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agents running on Databricks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Agents and Responsibilities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NL-to-SQL Agent: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Parses natural language into structured intent and generates SQL over Gold tables.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Data Agent: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Executes SQL on Delta Lake and returns numeric/tabular results.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Retriever Agent: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Queries the vector index to fetch semantically relevant context (descriptions, notes, summaries).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Generator / Validator Agent: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Combines SQL results + retrieved context, crafts the prompt, calls the LLM, and validates the answer.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Model Serving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Uses Databricks Model Serving / Foundation Models API to host LLMs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(e.g., Llama, Mistral, DB-hosted models).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All model versions tracked with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and governed by Unity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Catalog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Conversation Handling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Maintains short-term context (session memory) for follow-up questions.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Reuses prompt templates for consistent, instruction-following responses.</a:t>
            </a:r>
          </a:p>
        </p:txBody>
      </p:sp>
    </p:spTree>
    <p:extLst>
      <p:ext uri="{BB962C8B-B14F-4D97-AF65-F5344CB8AC3E}">
        <p14:creationId xmlns:p14="http://schemas.microsoft.com/office/powerpoint/2010/main" val="342055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8890-D991-4F96-B873-E530BCBB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3" y="365125"/>
            <a:ext cx="11723427" cy="132556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Storage, Indexing &amp; Retrieval (100GB+)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3ED89-101D-0E5C-08B3-0BF8D8BCD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Storage, Indexing &amp; Retrieval (100GB+)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Data Storage, Indexing &amp; Retrieval at 100GB+ Scale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Scalable storage: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 structured data stored as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Delta Lake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tables on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ADLS Gen2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Medallion layout (Bronze/Silver/Gold) supports incremental processing and historical retention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Performance optimizations: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Partitioning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by date, region, product to enable partition pruning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Regular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OPTIMIZE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Z-ORDER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on high-cardinality columns (e.g.,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to reduce scanned data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Avoid small files; compaction ensures efficient IO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Embeddings &amp; vector index: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embeddings for product descriptions, category summaries, and key business narratives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Store embeddings in a dedicated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Embeddings Delta table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Build a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Vector Search Index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(e.g., Databricks Mosaic AI Vector Search) over that table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Retrieval strategy: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First filter with SQL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(time, region, category) on Gold tables</a:t>
            </a: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Then enrich with semantic search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over embeddings for nuanced context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Only a small, relevant subset of data is sent to the LLM (RAG pattern)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70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A8B7-C1EC-1056-050C-6A620246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Query → Response Pipeline</a:t>
            </a:r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CF1D6-9264-2AFC-FAC0-111238289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263" y="1105470"/>
            <a:ext cx="11659737" cy="5752530"/>
          </a:xfrm>
        </p:spPr>
        <p:txBody>
          <a:bodyPr>
            <a:noAutofit/>
          </a:bodyPr>
          <a:lstStyle/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User question: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“Which category saw the highest YoY growth in Q3 in the North region?”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Step-by-step: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User request: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Analyst sends question from UI / notebook to the backend API.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NL-to-SQL Agent: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Extracts filters: Q3, North region, metric = YoY sales growth, grain = category.</a:t>
            </a: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Generates SQL against </a:t>
            </a: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IN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sales_summary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table.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Data Agent: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Runs SQL on Delta Lake (using partitioned Gold table).</a:t>
            </a: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Returns a small result set (categories + YoY growth values, sorted </a:t>
            </a: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desc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Retriever Agent (semantic):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Uses the question + top category name to query the </a:t>
            </a: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vector index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Retrieves related notes (promotions, supply issues, campaign summaries).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Generator / Validator Agent: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Builds a prompt containing:</a:t>
            </a:r>
          </a:p>
          <a:p>
            <a:pPr lvl="2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User question</a:t>
            </a:r>
          </a:p>
          <a:p>
            <a:pPr lvl="2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SQL results (numbers)</a:t>
            </a:r>
          </a:p>
          <a:p>
            <a:pPr lvl="2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Retrieved contextual snippets</a:t>
            </a: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Calls </a:t>
            </a: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Databricks-served LLM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to generate a natural-language explanation.</a:t>
            </a: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Optionally checks for consistency (e.g., category names and numbers align).</a:t>
            </a:r>
          </a:p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Response back to user: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Final answer: top category, YoY %, short explanation and optional recommendation.</a:t>
            </a:r>
          </a:p>
          <a:p>
            <a:pPr lvl="1"/>
            <a:r>
              <a:rPr lang="en-IN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logs prompt, response, latency, and metrics for monitoring.</a:t>
            </a:r>
          </a:p>
          <a:p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7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346D-1690-3D7F-9267-03EDBB68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Cost Breakdown (Monthly Estimate):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3D06-F96A-0F98-8643-AF91C4B39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Databricks ETL + streaming compute: </a:t>
            </a:r>
            <a:r>
              <a:rPr lang="en-IN" b="1" dirty="0"/>
              <a:t>$650–$1,050</a:t>
            </a:r>
            <a:endParaRPr lang="en-IN" dirty="0"/>
          </a:p>
          <a:p>
            <a:r>
              <a:rPr lang="en-IN" dirty="0"/>
              <a:t>LLM Model Serving (DB-hosted): </a:t>
            </a:r>
            <a:r>
              <a:rPr lang="en-IN" b="1" dirty="0"/>
              <a:t>$500–$700</a:t>
            </a:r>
            <a:endParaRPr lang="en-IN" dirty="0"/>
          </a:p>
          <a:p>
            <a:r>
              <a:rPr lang="en-IN" dirty="0"/>
              <a:t>Vector Search + Embeddings: </a:t>
            </a:r>
            <a:r>
              <a:rPr lang="en-IN" b="1" dirty="0"/>
              <a:t>$170–$300</a:t>
            </a:r>
            <a:endParaRPr lang="en-IN" dirty="0"/>
          </a:p>
          <a:p>
            <a:r>
              <a:rPr lang="en-IN" dirty="0"/>
              <a:t>ADLS + Delta storage: </a:t>
            </a:r>
            <a:r>
              <a:rPr lang="en-IN" b="1" dirty="0"/>
              <a:t>$3–$5</a:t>
            </a:r>
            <a:endParaRPr lang="en-IN" dirty="0"/>
          </a:p>
          <a:p>
            <a:r>
              <a:rPr lang="en-IN" dirty="0"/>
              <a:t>Dashboards + Governance: </a:t>
            </a:r>
            <a:r>
              <a:rPr lang="en-IN" b="1" dirty="0"/>
              <a:t>$50–$100</a:t>
            </a:r>
            <a:endParaRPr lang="en-IN" dirty="0"/>
          </a:p>
          <a:p>
            <a:r>
              <a:rPr lang="en-IN" b="1" dirty="0"/>
              <a:t>Total cost: ~$1,350–$2,150 per month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10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51D91-8E71-CA57-356D-522E63BA9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07" y="1204331"/>
            <a:ext cx="12196507" cy="5118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13633-2273-1B60-298C-A1421CF2D66D}"/>
              </a:ext>
            </a:extLst>
          </p:cNvPr>
          <p:cNvSpPr txBox="1"/>
          <p:nvPr/>
        </p:nvSpPr>
        <p:spPr>
          <a:xfrm>
            <a:off x="4817327" y="323385"/>
            <a:ext cx="2698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hlinkClick r:id="rId3"/>
              </a:rPr>
              <a:t>Current</a:t>
            </a:r>
            <a:r>
              <a:rPr lang="en-IN" dirty="0">
                <a:hlinkClick r:id="rId3"/>
              </a:rPr>
              <a:t> </a:t>
            </a:r>
            <a:r>
              <a:rPr lang="en-IN" b="1" i="1" dirty="0">
                <a:hlinkClick r:id="rId3"/>
              </a:rPr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6CCF-0D78-145E-9DDD-BBAF24C9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05422" cy="361402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74601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761</Words>
  <Application>Microsoft Macintosh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GenAI-Powered Retail Insights Assistant  </vt:lpstr>
      <vt:lpstr>PowerPoint Presentation</vt:lpstr>
      <vt:lpstr>System Architecture &amp; Data Flow </vt:lpstr>
      <vt:lpstr>LLM Integration Strategy</vt:lpstr>
      <vt:lpstr>Data Storage, Indexing &amp; Retrieval (100GB+)</vt:lpstr>
      <vt:lpstr>Query → Response Pipeline </vt:lpstr>
      <vt:lpstr>Cost Breakdown (Monthly Estimate): </vt:lpstr>
      <vt:lpstr>PowerPoint Presentation</vt:lpstr>
      <vt:lpstr>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Mdshafi Uddin</dc:creator>
  <cp:lastModifiedBy>Mdshafi Uddin</cp:lastModifiedBy>
  <cp:revision>2</cp:revision>
  <dcterms:created xsi:type="dcterms:W3CDTF">2025-11-27T01:51:10Z</dcterms:created>
  <dcterms:modified xsi:type="dcterms:W3CDTF">2025-11-27T10:32:47Z</dcterms:modified>
</cp:coreProperties>
</file>